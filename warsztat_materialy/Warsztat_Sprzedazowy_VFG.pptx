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86" autoAdjust="0"/>
    <p:restoredTop sz="94604"/>
  </p:normalViewPr>
  <p:slideViewPr>
    <p:cSldViewPr snapToGrid="0">
      <p:cViewPr varScale="1">
        <p:scale>
          <a:sx n="76" d="100"/>
          <a:sy n="76" d="100"/>
        </p:scale>
        <p:origin x="1287" y="45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0D247-E644-DF45-8D5C-3E9F4E3AF56F}" type="datetimeFigureOut">
              <a:rPr lang="pl-PL" smtClean="0"/>
              <a:t>14.07.2026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86E2F-A8F4-DA4E-875F-29436D1A390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86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0" i="0">
                <a:solidFill>
                  <a:srgbClr val="3F3B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0" i="0">
                <a:solidFill>
                  <a:srgbClr val="3F3B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0" i="0">
                <a:solidFill>
                  <a:srgbClr val="3F3B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0" i="0">
                <a:solidFill>
                  <a:srgbClr val="3F3B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61725" y="6043297"/>
            <a:ext cx="207645" cy="903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0" i="0">
                <a:solidFill>
                  <a:srgbClr val="3F3B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latin typeface="Barlow Condensed"/>
              </a:defRPr>
            </a:pPr>
            <a:r>
              <a:t>WARSZTAT SPRZEDAŻOWY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Definicja klienta, konkurencji oraz źródła biznesu</a:t>
            </a:r>
          </a:p>
          <a:p>
            <a:pPr algn="ctr">
              <a:defRPr sz="2000">
                <a:latin typeface="Aptos"/>
              </a:defRPr>
            </a:pPr>
          </a:p>
          <a:p>
            <a:pPr algn="ctr">
              <a:defRPr sz="2000">
                <a:latin typeface="Aptos"/>
              </a:defRPr>
            </a:pPr>
            <a:r>
              <a:t>Villa Foksal  |  LookUp  |  Catering Villa Foksal</a:t>
            </a:r>
          </a:p>
          <a:p>
            <a:pPr algn="ctr">
              <a:defRPr sz="2000">
                <a:latin typeface="Aptos"/>
              </a:defRPr>
            </a:pPr>
            <a:r>
              <a:t>Środa, 16 lipca 2026, godz. 10:00 - 15:00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latin typeface="Barlow Condensed"/>
              </a:defRPr>
            </a:pPr>
            <a:r>
              <a:t>Cel i Zakres Warsztatu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Odpowiedź na kluczowe pytania biznesowe: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Kto jest naszym klientem dla każdej z trzech marek?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Gdzie leży największy potencjał biznesowy i jak go pozyskujemy?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Jakie wyzwania krótkoi długoterminowe stoją przed zespołem?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Analiza i wnioskowanie dla marek: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Villa Foksal (restauracja i eventy stacjonarne)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LookUp Sky Events (konferencje, gale i eventy premium)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Catering Villa Foksal (kuchnia premium dostarczana do klienta)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Cel operacyjny: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Zderzenie perspektyw i doświadczeń sprzedaży oraz szefa kuchni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Wypracowanie konkretnych usprawnień i planu działań na kolejne 2 tygodnie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latin typeface="Barlow Condensed"/>
              </a:defRPr>
            </a:pPr>
            <a:r>
              <a:t>Agenda Warsztatu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10:00 - 10:15 | Otwarcie warsztatu, cel i zasady pracy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10:15 - 11:00 | Dane na stół: Prezentacja danych sprzedażowych i analizy rynku (Robert)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11:00 - 11:15 | Przerwa kawowa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11:15 - 11:45 | Nasze Przemyślenia – runda wypowiedzi po danych Roberta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11:45 - 13:30 | Praca własna ze stickerami (3 ćwiczenia) i omówienie na stole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13:30 - 14:00 | Przerwa obiadowa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14:00 - 14:40 | Ćwiczenie 4: Ring Sprzedażowy – Obrona Wartości (Battle Cards)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14:40 - 15:00 | Podsumowanie, 3 decyzje i zobowiązania zespołu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latin typeface="Barlow Condensed"/>
              </a:defRPr>
            </a:pPr>
            <a:r>
              <a:t>Zasady Współpracy – Jak pracujemy?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Jedna osoba mówi, reszta słucha – nie przerywamy sobie nawzajem!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Szanujemy czas i perspektywę każdego uczestnika (kuchnia i sprzedaż to jeden team)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Nie oceniamy pomysłów na starcie – zbieramy każdą obserwację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Mówimy z własnej perspektywy – zamiast "wszyscy wiedzą", mówimy "z mojego doświadczenia..."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Skupiamy się na celach – telefony wyciszone i odłożone na czas sesji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Zorientowanie na rozwiązania – jeśli widzimy problem, szukamy do niego wyjścia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latin typeface="Barlow Condensed"/>
              </a:defRPr>
            </a:pPr>
            <a:r>
              <a:t>BLOK 2: Dane na stół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Godz. 10:15 - 11:00</a:t>
            </a:r>
          </a:p>
          <a:p>
            <a:pPr algn="ctr">
              <a:defRPr sz="2000">
                <a:latin typeface="Aptos"/>
              </a:defRPr>
            </a:pPr>
          </a:p>
          <a:p>
            <a:pPr algn="ctr">
              <a:defRPr sz="2000">
                <a:latin typeface="Aptos"/>
              </a:defRPr>
            </a:pPr>
            <a:r>
              <a:t>Prezentacja Roberta: wyniki ankiet i dane sprzedażowe</a:t>
            </a:r>
          </a:p>
          <a:p>
            <a:pPr algn="ctr">
              <a:defRPr sz="2000">
                <a:latin typeface="Aptos"/>
              </a:defRPr>
            </a:pPr>
            <a:r>
              <a:t>Słuchamy w skupieniu, notujemy wnioski na kartkach, nie przerywamy.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latin typeface="Barlow Condensed"/>
              </a:defRPr>
            </a:pPr>
            <a:r>
              <a:t>PRZERWA KAWOWA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Godz. 11:00 - 11:15</a:t>
            </a:r>
          </a:p>
          <a:p>
            <a:pPr algn="ctr">
              <a:defRPr sz="2000">
                <a:latin typeface="Aptos"/>
              </a:defRPr>
            </a:pPr>
          </a:p>
          <a:p>
            <a:pPr algn="ctr">
              <a:defRPr sz="2000">
                <a:latin typeface="Aptos"/>
              </a:defRPr>
            </a:pPr>
            <a:r>
              <a:t>Czas na kawę i nieformalne rozmowy.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latin typeface="Barlow Condensed"/>
              </a:defRPr>
            </a:pPr>
            <a:r>
              <a:t>BLOK 3: Nasze Przemyślenia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Godz. 11:15 - 11:45</a:t>
            </a:r>
          </a:p>
          <a:p>
            <a:pPr algn="ctr">
              <a:defRPr sz="2000">
                <a:latin typeface="Aptos"/>
              </a:defRPr>
            </a:pPr>
          </a:p>
          <a:p>
            <a:pPr algn="ctr">
              <a:defRPr sz="2000">
                <a:latin typeface="Aptos"/>
              </a:defRPr>
            </a:pPr>
            <a:r>
              <a:t>Rozgrzewka po prezentacji Roberta.</a:t>
            </a:r>
          </a:p>
          <a:p>
            <a:pPr algn="ctr">
              <a:defRPr sz="2000">
                <a:latin typeface="Aptos"/>
              </a:defRPr>
            </a:pPr>
            <a:r>
              <a:t>Indywidualne zapisywanie przemyśleń i runda dyskusji przy stole.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latin typeface="Barlow Condensed"/>
              </a:defRPr>
            </a:pPr>
            <a:r>
              <a:t>Rozgrzewka: Zderzenie z faktami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Zapisz w ciszy na żółtych karteczkach (oznacz: Z, P, N):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(Z) Zaskoczenie: Co w danych Roberta najbardziej Cię zaskoczyło?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(P) Potwierdzenie: Co potwierdza Twoje codzienne obserwacje z pracy?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(N) Niepokój: Co niepokoi Cię jako zagrożenie dla naszej sprzedaży?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Zasady omawiania przy stole: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Każdy po kolei czyta swoje punkty i układa na stole pod matami marek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Reszta słucha w milczeniu – brak komentarzy i dyskusji w trakcie rundy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latin typeface="Barlow Condensed"/>
              </a:defRPr>
            </a:pPr>
            <a:r>
              <a:t>ĆWICZENIE 1: Profil i Anty-Profil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Godz. 11:45 - 12:20</a:t>
            </a:r>
          </a:p>
          <a:p>
            <a:pPr algn="ctr">
              <a:defRPr sz="2000">
                <a:latin typeface="Aptos"/>
              </a:defRPr>
            </a:pPr>
          </a:p>
          <a:p>
            <a:pPr algn="ctr">
              <a:defRPr sz="2000">
                <a:latin typeface="Aptos"/>
              </a:defRPr>
            </a:pPr>
            <a:r>
              <a:t>Kim jest nasz idealny klient, a kto generuje straty i konflikty?</a:t>
            </a:r>
          </a:p>
          <a:p>
            <a:pPr algn="ctr">
              <a:defRPr sz="2000">
                <a:latin typeface="Aptos"/>
              </a:defRPr>
            </a:pPr>
            <a:r>
              <a:t>Praca na żółtych karteczkach na stole.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latin typeface="Barlow Condensed"/>
              </a:defRPr>
            </a:pPr>
            <a:r>
              <a:t>Ćwiczenie 1: Nasz Klient i Anty-Klient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Zapisz na żółtych karteczkach dla każdej z 3 marek (VF, LU, Catering):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(+) Profil Idealny: Kto ma budżet, dzwoni najczęściej i współpraca idzie sprawnie?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() Anty-Profil: Kto kosztuje najwięcej pracy przy minimalnej marży?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Pytania pomocnicze: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Kim jest ten klient? (np. agencja, panna młoda, asystentka, dyrektor marketingu)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Co go najbardziej denerwuje w procesie obsługi i czego szuka?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Gdzie widzimy sprzeczności między celami sprzedaży a kuchni?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latin typeface="Barlow Condensed"/>
              </a:defRPr>
            </a:pPr>
            <a:r>
              <a:t>ĆWICZENIE 2: Gdzie jest biznes i konkurencja?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Godz. 12:20 - 12:55</a:t>
            </a:r>
          </a:p>
          <a:p>
            <a:pPr algn="ctr">
              <a:defRPr sz="2000">
                <a:latin typeface="Aptos"/>
              </a:defRPr>
            </a:pPr>
          </a:p>
          <a:p>
            <a:pPr algn="ctr">
              <a:defRPr sz="2000">
                <a:latin typeface="Aptos"/>
              </a:defRPr>
            </a:pPr>
            <a:r>
              <a:t>Gdzie leży ukryty potencjał i kto nam podbiera klientów?</a:t>
            </a:r>
          </a:p>
          <a:p>
            <a:pPr algn="ctr">
              <a:defRPr sz="2000">
                <a:latin typeface="Aptos"/>
              </a:defRPr>
            </a:pPr>
            <a:r>
              <a:t>Mapowanie branż i argumentów rynkowych na stole.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latin typeface="Barlow Condensed"/>
              </a:defRPr>
            </a:pPr>
            <a:r>
              <a:t>Ćwiczenie 2: Gdzie jest biznes i konkurencja?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Zapisz na żółtych karteczkach dla każdej z 3 marek: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[B] Biznes: Jakie konkretne branże/segmenty chcemy proaktywnie zaatakować?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[K] Konkurencja: Kto nas porównuje i dlaczego z nimi przegrywamy?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Pytania pomocnicze: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Gdzie idzie klient, gdy odrzuca naszą ofertę i co tam chwali?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Jeśli mamy za mało zapytań – do jakich firm powinniśmy sami wyjść z ofertą?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Kto ma bezpośredni kontakt do tych nowych segmentów?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latin typeface="Barlow Condensed"/>
              </a:defRPr>
            </a:pPr>
            <a:r>
              <a:t>ĆWICZENIE 3: Wąskie Gardła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Godz. 12:55 - 13:30</a:t>
            </a:r>
          </a:p>
          <a:p>
            <a:pPr algn="ctr">
              <a:defRPr sz="2000">
                <a:latin typeface="Aptos"/>
              </a:defRPr>
            </a:pPr>
          </a:p>
          <a:p>
            <a:pPr algn="ctr">
              <a:defRPr sz="2000">
                <a:latin typeface="Aptos"/>
              </a:defRPr>
            </a:pPr>
            <a:r>
              <a:t>Styk kuchni i sprzedaży oraz blokady decyzyjne klientów.</a:t>
            </a:r>
          </a:p>
          <a:p>
            <a:pPr algn="ctr">
              <a:defRPr sz="2000">
                <a:latin typeface="Aptos"/>
              </a:defRPr>
            </a:pPr>
            <a:r>
              <a:t>Szukanie systemowych rozwiązań dla zespołu.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latin typeface="Barlow Condensed"/>
              </a:defRPr>
            </a:pPr>
            <a:r>
              <a:t>Ćwiczenie 3: Wąskie Gardła i styk Kuchnia/Sprzedaż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Zapisz na żółtych karteczkach: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[BLOK] Blokady: Co powstrzymuje klienta przed decyzją "TAK"?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[STYK] Styk: Co najbardziej zgrzyta na linii sprzedaż-kuchnia?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Pytania pomocnicze: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Czego brakuje handlowcom do szybkiego zamykania tematów (cena, menu, parking)?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Jakie wymagania operacyjne kuchni są najtrudniejsze do obrony przed klientem?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Co możemy uprościć systemowo, żeby przyspieszyć ofertowanie?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latin typeface="Barlow Condensed"/>
              </a:defRPr>
            </a:pPr>
            <a:r>
              <a:t>PRZERWA OBIADOWA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Godz. 13:30 - 14:00</a:t>
            </a:r>
          </a:p>
          <a:p>
            <a:pPr algn="ctr">
              <a:defRPr sz="2000">
                <a:latin typeface="Aptos"/>
              </a:defRPr>
            </a:pPr>
          </a:p>
          <a:p>
            <a:pPr algn="ctr">
              <a:defRPr sz="2000">
                <a:latin typeface="Aptos"/>
              </a:defRPr>
            </a:pPr>
            <a:r>
              <a:t>Czas na obiad i regenerację sił.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latin typeface="Barlow Condensed"/>
              </a:defRPr>
            </a:pPr>
            <a:r>
              <a:t>ĆWICZENIE 4: Ring Sprzedażowy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Godz. 14:00 - 14:40</a:t>
            </a:r>
          </a:p>
          <a:p>
            <a:pPr algn="ctr">
              <a:defRPr sz="2000">
                <a:latin typeface="Aptos"/>
              </a:defRPr>
            </a:pPr>
          </a:p>
          <a:p>
            <a:pPr algn="ctr">
              <a:defRPr sz="2000">
                <a:latin typeface="Aptos"/>
              </a:defRPr>
            </a:pPr>
            <a:r>
              <a:t>Obrona wartości i zbijanie obiekcji klientów.</a:t>
            </a:r>
          </a:p>
          <a:p>
            <a:pPr algn="ctr">
              <a:defRPr sz="2000">
                <a:latin typeface="Aptos"/>
              </a:defRPr>
            </a:pPr>
            <a:r>
              <a:t>Praca na żywych blokadach z porannej sesji.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latin typeface="Barlow Condensed"/>
              </a:defRPr>
            </a:pPr>
            <a:r>
              <a:t>Ćwiczenie 4: Ring Sprzedażowy (Obrona Wartości)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Na przygotowanych kartkach obiekcji zapisz gotowy argument handlowy: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LookUp: "Varso jest wyższe, a hotele mają parkingi. Dlaczego mam wybrać Was?"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Villa Foksal: "Wasze menu jest zbyt tradycyjne. Chcemy wegańskiego w tej samej cenie."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Catering VF: "Inna firma cateringowa jest tańsza o 30%. Dlaczego mam przepłacać?"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Zasady pracy: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Piszemy konkretne zdania – słowo w słowo, jak do klienta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Wybieramy z karteczek jeden, najsilniejszy argument dla każdej obiekcji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latin typeface="Barlow Condensed"/>
              </a:defRPr>
            </a:pPr>
            <a:r>
              <a:t>PODSUMOWANIE WARSZTATU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Godz. 14:40 - 15:00</a:t>
            </a:r>
          </a:p>
          <a:p>
            <a:pPr algn="ctr">
              <a:defRPr sz="2000">
                <a:latin typeface="Aptos"/>
              </a:defRPr>
            </a:pPr>
          </a:p>
          <a:p>
            <a:pPr algn="ctr">
              <a:defRPr sz="2000">
                <a:latin typeface="Aptos"/>
              </a:defRPr>
            </a:pPr>
            <a:r>
              <a:t>Określenie 3 decyzji strategicznych i spisanie zobowiązań zespołu.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latin typeface="Barlow Condensed"/>
              </a:defRPr>
            </a:pPr>
            <a:r>
              <a:t>Zobowiązania Zespołu i Kolejne Kroki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Zapisz na ostatniej karteczce: Imię + Zadanie + Termin.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Runda deklaracji na koniec warsztatu: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"Ja ze swojej strony zobowiązuję się do..."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Zasady zobowiązań:</a:t>
            </a:r>
          </a:p>
          <a:p>
            <a:pPr lvl="1">
              <a:spcAft>
                <a:spcPts val="600"/>
              </a:spcAft>
              <a:defRPr sz="1800" b="0">
                <a:latin typeface="Aptos"/>
              </a:defRPr>
            </a:pPr>
            <a:r>
              <a:t>Zobowiązanie musi być konkretne, mierzalne i możliwe do wdrożenia w 14 dni</a:t>
            </a:r>
          </a:p>
          <a:p>
            <a:pPr>
              <a:spcAft>
                <a:spcPts val="800"/>
              </a:spcAft>
              <a:defRPr sz="2200" b="1">
                <a:latin typeface="Aptos"/>
              </a:defRPr>
            </a:pPr>
            <a:r>
              <a:t>Ustalenie terminu spotkania follow-up podsumowującego efekty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latin typeface="Barlow Condensed"/>
              </a:defRPr>
            </a:pPr>
            <a:r>
              <a:t>Dziękuję za Wspólną Pracę!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>
              <a:defRPr sz="2000">
                <a:latin typeface="Aptos"/>
              </a:defRPr>
            </a:pPr>
            <a:r>
              <a:t>Villa Foksal Group  |  LookUp  |  Catering Villa Foksal</a:t>
            </a:r>
          </a:p>
          <a:p>
            <a:pPr algn="ctr">
              <a:defRPr sz="2000">
                <a:latin typeface="Aptos"/>
              </a:defRPr>
            </a:pPr>
          </a:p>
          <a:p>
            <a:pPr algn="ctr">
              <a:defRPr sz="2000">
                <a:latin typeface="Aptos"/>
              </a:defRPr>
            </a:pPr>
            <a:r>
              <a:t>Przejdźmy do działania!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AB786F94D42384EAC87E968844F8798" ma:contentTypeVersion="9" ma:contentTypeDescription="Utwórz nowy dokument." ma:contentTypeScope="" ma:versionID="eaa84b2520860b9b3674c9e1ac02e3fc">
  <xsd:schema xmlns:xsd="http://www.w3.org/2001/XMLSchema" xmlns:xs="http://www.w3.org/2001/XMLSchema" xmlns:p="http://schemas.microsoft.com/office/2006/metadata/properties" xmlns:ns3="3054ab81-125b-4475-878e-a09346364d40" targetNamespace="http://schemas.microsoft.com/office/2006/metadata/properties" ma:root="true" ma:fieldsID="64635062f4545103bc5b80252aa56b73" ns3:_="">
    <xsd:import namespace="3054ab81-125b-4475-878e-a09346364d4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4ab81-125b-4475-878e-a09346364d4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54ab81-125b-4475-878e-a09346364d40" xsi:nil="true"/>
  </documentManagement>
</p:properties>
</file>

<file path=customXml/itemProps1.xml><?xml version="1.0" encoding="utf-8"?>
<ds:datastoreItem xmlns:ds="http://schemas.openxmlformats.org/officeDocument/2006/customXml" ds:itemID="{F0B51FED-69E9-47B0-8575-470C381D97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5F66FF-F6FB-4590-A8E3-45DAEA9E5C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54ab81-125b-4475-878e-a09346364d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66E075-B8D8-4881-826C-A9401436D232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3054ab81-125b-4475-878e-a09346364d40"/>
    <ds:schemaRef ds:uri="http://www.w3.org/XML/1998/namespace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</TotalTime>
  <Words>2001</Words>
  <Application>Microsoft Office PowerPoint</Application>
  <PresentationFormat>Niestandardowy</PresentationFormat>
  <Paragraphs>122</Paragraphs>
  <Slides>31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31</vt:i4>
      </vt:variant>
    </vt:vector>
  </HeadingPairs>
  <TitlesOfParts>
    <vt:vector size="40" baseType="lpstr">
      <vt:lpstr>Aptos</vt:lpstr>
      <vt:lpstr>Arial</vt:lpstr>
      <vt:lpstr>Arial Unicode MS</vt:lpstr>
      <vt:lpstr>Barlow Condensed ExtraLight</vt:lpstr>
      <vt:lpstr>Barlow Condensed SemiBold</vt:lpstr>
      <vt:lpstr>Calibri</vt:lpstr>
      <vt:lpstr>Symbol</vt:lpstr>
      <vt:lpstr>Times New Roman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CREDENTIALS</dc:title>
  <dc:creator>Małgorzata</dc:creator>
  <cp:lastModifiedBy>Małgorzata Skorwider | MADEby</cp:lastModifiedBy>
  <cp:revision>44</cp:revision>
  <cp:lastPrinted>2025-07-29T16:43:07Z</cp:lastPrinted>
  <dcterms:created xsi:type="dcterms:W3CDTF">2025-05-24T16:00:41Z</dcterms:created>
  <dcterms:modified xsi:type="dcterms:W3CDTF">2026-07-15T04:51:36Z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2025-05-16T00:00:00Z</vt:filetime>
  </property>
  <property fmtid="{D5CDD505-2E9C-101B-9397-08002B2CF9AE}" pid="3" name="Creator">
    <vt:lpwstr>Adobe InDesign 20.1 (Windows)</vt:lpwstr>
  </property>
  <property fmtid="{D5CDD505-2E9C-101B-9397-08002B2CF9AE}" pid="4" name="LastSaved">
    <vt:filetime>2025-05-24T00:00:00Z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0x0101000AB786F94D42384EAC87E968844F8798</vt:lpwstr>
  </property>
</Properties>
</file>